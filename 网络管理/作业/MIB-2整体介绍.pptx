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3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</p:sldIdLst>
  <p:sldSz cx="12192000" cy="6858000"/>
  <p:notesSz cx="6858000" cy="9144000"/>
  <p:embeddedFontLst>
    <p:embeddedFont>
      <p:font typeface="Noto Sans SC" panose="020B0200000000000000" pitchFamily="34" charset="-122"/>
      <p:regular r:id="rId25"/>
      <p:bold r:id="rId26"/>
    </p:embeddedFont>
    <p:embeddedFont>
      <p:font typeface="微软雅黑" panose="020B0503020204020204" pitchFamily="34" charset="-122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71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83C0A-BB26-3874-EF95-AF1D9AEF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C0F0467-1668-312D-F13D-540334617831}"/>
              </a:ext>
            </a:extLst>
          </p:cNvPr>
          <p:cNvSpPr txBox="1"/>
          <p:nvPr/>
        </p:nvSpPr>
        <p:spPr>
          <a:xfrm>
            <a:off x="838200" y="1621830"/>
            <a:ext cx="6048396" cy="18071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10500" b="1">
                <a:solidFill>
                  <a:srgbClr val="4F5088">
                    <a:alpha val="100000"/>
                  </a:srgbClr>
                </a:solidFill>
              </a:rPr>
              <a:t>MIB-2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6D3AF09-7D2C-C335-1140-69010F158741}"/>
              </a:ext>
            </a:extLst>
          </p:cNvPr>
          <p:cNvSpPr txBox="1"/>
          <p:nvPr/>
        </p:nvSpPr>
        <p:spPr>
          <a:xfrm>
            <a:off x="914400" y="4827723"/>
            <a:ext cx="3609975" cy="32432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64000"/>
              </a:lnSpc>
              <a:spcBef>
                <a:spcPts val="450"/>
              </a:spcBef>
            </a:pPr>
            <a:endParaRPr lang="en-US" sz="2000">
              <a:solidFill>
                <a:srgbClr val="1F1F1F">
                  <a:alpha val="100000"/>
                </a:srgbClr>
              </a:solidFill>
              <a:ea typeface="Noto Sans SC"/>
              <a:cs typeface="Noto Sans SC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C21E42-EEA1-84DC-BAFA-41A524B85B63}"/>
              </a:ext>
            </a:extLst>
          </p:cNvPr>
          <p:cNvSpPr txBox="1"/>
          <p:nvPr/>
        </p:nvSpPr>
        <p:spPr>
          <a:xfrm>
            <a:off x="914400" y="320040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0" b="1">
                <a:solidFill>
                  <a:srgbClr val="4F5088">
                    <a:alpha val="100000"/>
                  </a:srgbClr>
                </a:solidFill>
              </a:rPr>
              <a:t>整体</a:t>
            </a:r>
            <a:r>
              <a:rPr lang="en-US" altLang="zh-CN" sz="8000" b="1" err="1">
                <a:solidFill>
                  <a:srgbClr val="4F5088">
                    <a:alpha val="100000"/>
                  </a:srgbClr>
                </a:solidFill>
              </a:rPr>
              <a:t>介绍</a:t>
            </a:r>
            <a:endParaRPr lang="zh-CN" altLang="en-US" sz="8000"/>
          </a:p>
        </p:txBody>
      </p:sp>
    </p:spTree>
    <p:extLst>
      <p:ext uri="{BB962C8B-B14F-4D97-AF65-F5344CB8AC3E}">
        <p14:creationId xmlns:p14="http://schemas.microsoft.com/office/powerpoint/2010/main" val="2219182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40760" y="0"/>
            <a:ext cx="2809137" cy="3421221"/>
          </a:xfrm>
          <a:prstGeom prst="rect">
            <a:avLst/>
          </a:prstGeom>
          <a:gradFill>
            <a:gsLst>
              <a:gs pos="0">
                <a:schemeClr val="accent1">
                  <a:alpha val="75000"/>
                </a:schemeClr>
              </a:gs>
              <a:gs pos="100000">
                <a:schemeClr val="lt2">
                  <a:alpha val="75000"/>
                </a:schemeClr>
              </a:gs>
            </a:gsLst>
            <a:lin ang="16200000"/>
          </a:gradFill>
          <a:ln/>
        </p:spPr>
      </p:sp>
      <p:sp>
        <p:nvSpPr>
          <p:cNvPr id="3" name="AutoShape 3"/>
          <p:cNvSpPr/>
          <p:nvPr/>
        </p:nvSpPr>
        <p:spPr>
          <a:xfrm>
            <a:off x="1140760" y="1983274"/>
            <a:ext cx="2809137" cy="2809137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lt2">
                  <a:alpha val="100000"/>
                </a:schemeClr>
              </a:gs>
            </a:gsLst>
            <a:lin ang="0"/>
          </a:gradFill>
          <a:ln/>
        </p:spPr>
      </p:sp>
      <p:cxnSp>
        <p:nvCxnSpPr>
          <p:cNvPr id="4" name="Connector 4"/>
          <p:cNvCxnSpPr/>
          <p:nvPr/>
        </p:nvCxnSpPr>
        <p:spPr>
          <a:xfrm>
            <a:off x="3198500" y="2897445"/>
            <a:ext cx="0" cy="130951"/>
          </a:xfrm>
          <a:prstGeom prst="line">
            <a:avLst/>
          </a:prstGeom>
          <a:ln w="9525">
            <a:solidFill>
              <a:srgbClr val="FDFEFF">
                <a:alpha val="100000"/>
              </a:srgbClr>
            </a:solidFill>
            <a:prstDash val="solid"/>
            <a:headEnd type="none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>
            <a:off x="1823497" y="2897445"/>
            <a:ext cx="0" cy="130951"/>
          </a:xfrm>
          <a:prstGeom prst="line">
            <a:avLst/>
          </a:prstGeom>
          <a:ln w="9525">
            <a:solidFill>
              <a:srgbClr val="FDFEFF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6" name="AutoShape 6"/>
          <p:cNvSpPr/>
          <p:nvPr/>
        </p:nvSpPr>
        <p:spPr>
          <a:xfrm>
            <a:off x="611546" y="2481967"/>
            <a:ext cx="259567" cy="1408741"/>
          </a:xfrm>
          <a:prstGeom prst="rect">
            <a:avLst/>
          </a:prstGeom>
          <a:gradFill>
            <a:gsLst>
              <a:gs pos="0">
                <a:schemeClr val="accent1">
                  <a:alpha val="51000"/>
                </a:schemeClr>
              </a:gs>
              <a:gs pos="100000">
                <a:schemeClr val="lt2">
                  <a:alpha val="51000"/>
                </a:schemeClr>
              </a:gs>
            </a:gsLst>
            <a:lin ang="5400000"/>
          </a:gradFill>
          <a:ln/>
        </p:spPr>
      </p:sp>
      <p:sp>
        <p:nvSpPr>
          <p:cNvPr id="7" name="AutoShape 7"/>
          <p:cNvSpPr/>
          <p:nvPr/>
        </p:nvSpPr>
        <p:spPr>
          <a:xfrm>
            <a:off x="611546" y="2352184"/>
            <a:ext cx="259567" cy="259567"/>
          </a:xfrm>
          <a:prstGeom prst="ellipse">
            <a:avLst/>
          </a:prstGeom>
          <a:solidFill>
            <a:schemeClr val="accent2">
              <a:alpha val="100000"/>
              <a:lumMod val="40000"/>
              <a:lumOff val="6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-1022221" y="4869455"/>
            <a:ext cx="1813010" cy="1813010"/>
          </a:xfrm>
          <a:prstGeom prst="ellipse">
            <a:avLst/>
          </a:prstGeom>
          <a:gradFill>
            <a:gsLst>
              <a:gs pos="0">
                <a:schemeClr val="accent1">
                  <a:alpha val="27000"/>
                </a:schemeClr>
              </a:gs>
              <a:gs pos="100000">
                <a:schemeClr val="lt2">
                  <a:alpha val="27000"/>
                </a:schemeClr>
              </a:gs>
            </a:gsLst>
            <a:lin ang="0"/>
          </a:gradFill>
          <a:ln/>
        </p:spPr>
      </p:sp>
      <p:sp>
        <p:nvSpPr>
          <p:cNvPr id="9" name="AutoShape 9"/>
          <p:cNvSpPr/>
          <p:nvPr/>
        </p:nvSpPr>
        <p:spPr>
          <a:xfrm>
            <a:off x="4298477" y="0"/>
            <a:ext cx="668835" cy="1915360"/>
          </a:xfrm>
          <a:prstGeom prst="rect">
            <a:avLst/>
          </a:prstGeom>
          <a:gradFill>
            <a:gsLst>
              <a:gs pos="0">
                <a:schemeClr val="accent1">
                  <a:alpha val="62000"/>
                </a:schemeClr>
              </a:gs>
              <a:gs pos="100000">
                <a:schemeClr val="lt2">
                  <a:alpha val="62000"/>
                </a:schemeClr>
              </a:gs>
            </a:gsLst>
            <a:lin ang="16200000"/>
          </a:gradFill>
          <a:ln/>
        </p:spPr>
      </p:sp>
      <p:sp>
        <p:nvSpPr>
          <p:cNvPr id="10" name="AutoShape 10"/>
          <p:cNvSpPr/>
          <p:nvPr/>
        </p:nvSpPr>
        <p:spPr>
          <a:xfrm>
            <a:off x="4298477" y="1580942"/>
            <a:ext cx="668835" cy="66883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10066688" y="5912672"/>
            <a:ext cx="531248" cy="531248"/>
          </a:xfrm>
          <a:prstGeom prst="ellipse">
            <a:avLst/>
          </a:prstGeom>
          <a:gradFill>
            <a:gsLst>
              <a:gs pos="0">
                <a:schemeClr val="accent1">
                  <a:alpha val="59000"/>
                </a:schemeClr>
              </a:gs>
              <a:gs pos="100000">
                <a:schemeClr val="lt2">
                  <a:alpha val="59000"/>
                </a:schemeClr>
              </a:gs>
            </a:gsLst>
            <a:lin ang="0"/>
          </a:gradFill>
          <a:ln/>
        </p:spPr>
      </p:sp>
      <p:sp>
        <p:nvSpPr>
          <p:cNvPr id="12" name="AutoShape 12"/>
          <p:cNvSpPr/>
          <p:nvPr/>
        </p:nvSpPr>
        <p:spPr>
          <a:xfrm>
            <a:off x="10779576" y="-508283"/>
            <a:ext cx="2423643" cy="2423643"/>
          </a:xfrm>
          <a:prstGeom prst="ellipse">
            <a:avLst/>
          </a:prstGeom>
          <a:gradFill>
            <a:gsLst>
              <a:gs pos="0">
                <a:schemeClr val="accent1">
                  <a:alpha val="27000"/>
                </a:schemeClr>
              </a:gs>
              <a:gs pos="97000">
                <a:schemeClr val="lt2">
                  <a:alpha val="27000"/>
                </a:schemeClr>
              </a:gs>
            </a:gsLst>
            <a:lin ang="0"/>
          </a:gradFill>
          <a:ln/>
        </p:spPr>
      </p:sp>
      <p:sp>
        <p:nvSpPr>
          <p:cNvPr id="13" name="TextBox 13"/>
          <p:cNvSpPr txBox="1"/>
          <p:nvPr/>
        </p:nvSpPr>
        <p:spPr>
          <a:xfrm>
            <a:off x="1552038" y="3100952"/>
            <a:ext cx="1983105" cy="123444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6000" b="1" err="1">
                <a:solidFill>
                  <a:srgbClr val="FDFEFF">
                    <a:alpha val="100000"/>
                  </a:srgbClr>
                </a:solidFill>
                <a:latin typeface="+mn-ea"/>
                <a:cs typeface="Noto Sans SC"/>
              </a:rPr>
              <a:t>目录</a:t>
            </a:r>
            <a:endParaRPr lang="en-US" sz="6000" b="1">
              <a:solidFill>
                <a:srgbClr val="FDFEFF">
                  <a:alpha val="100000"/>
                </a:srgbClr>
              </a:solidFill>
              <a:latin typeface="+mn-ea"/>
              <a:cs typeface="Noto Sans SC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0200" y="2681266"/>
            <a:ext cx="1828799" cy="5431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2000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CONTENTS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57800" y="1580942"/>
            <a:ext cx="6019800" cy="4048125"/>
          </a:xfrm>
          <a:prstGeom prst="rect">
            <a:avLst/>
          </a:prstGeom>
          <a:ln/>
        </p:spPr>
        <p:txBody>
          <a:bodyPr vert="horz" wrap="square" lIns="95250" tIns="95250" rIns="47625" bIns="95250" rtlCol="0" anchor="ctr" anchorCtr="0">
            <a:noAutofit/>
          </a:bodyPr>
          <a:lstStyle/>
          <a:p>
            <a:pPr marL="228600" lvl="1" indent="-228600" algn="l">
              <a:lnSpc>
                <a:spcPct val="150000"/>
              </a:lnSpc>
              <a:buFont typeface="Arial"/>
              <a:buChar char="•"/>
            </a:pPr>
            <a:r>
              <a:rPr lang="en-US" sz="32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MIB-2 概述</a:t>
            </a:r>
            <a:r>
              <a:rPr lang="zh-CN" altLang="en-US" sz="32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及</a:t>
            </a:r>
            <a:r>
              <a:rPr lang="en-US" altLang="zh-CN" sz="32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功能组</a:t>
            </a:r>
            <a:endParaRPr lang="en-US" sz="32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  <a:p>
            <a:pPr marL="228600" lvl="1" indent="-228600" algn="l">
              <a:lnSpc>
                <a:spcPct val="150000"/>
              </a:lnSpc>
              <a:buFont typeface="Arial"/>
              <a:buChar char="•"/>
            </a:pPr>
            <a:r>
              <a:rPr lang="en-US" sz="32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MIB-2 </a:t>
            </a:r>
            <a:r>
              <a:rPr lang="en-US" sz="32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的对象标示符（OID</a:t>
            </a:r>
            <a:r>
              <a:rPr lang="en-US" sz="32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）</a:t>
            </a:r>
          </a:p>
          <a:p>
            <a:pPr marL="228600" lvl="1" indent="-228600" algn="l">
              <a:lnSpc>
                <a:spcPct val="150000"/>
              </a:lnSpc>
              <a:buFont typeface="Arial"/>
              <a:buChar char="•"/>
            </a:pPr>
            <a:r>
              <a:rPr lang="en-US" sz="32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MIB-2 </a:t>
            </a:r>
            <a:r>
              <a:rPr lang="en-US" sz="32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的应用场景与案例</a:t>
            </a:r>
            <a:endParaRPr lang="en-US" sz="32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  <a:p>
            <a:pPr marL="228600" lvl="1" indent="-228600" algn="l">
              <a:lnSpc>
                <a:spcPct val="150000"/>
              </a:lnSpc>
              <a:buFont typeface="Arial"/>
              <a:buChar char="•"/>
            </a:pPr>
            <a:r>
              <a:rPr lang="en-US" sz="32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MIB-2 </a:t>
            </a:r>
            <a:r>
              <a:rPr lang="en-US" sz="32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的未来发展趋势</a:t>
            </a:r>
            <a:endParaRPr lang="en-US" sz="32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9275" y="2057400"/>
            <a:ext cx="8553450" cy="107843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64000"/>
              </a:lnSpc>
              <a:spcBef>
                <a:spcPts val="450"/>
              </a:spcBef>
            </a:pPr>
            <a:r>
              <a:rPr lang="en-US" sz="9225" b="1">
                <a:solidFill>
                  <a:srgbClr val="4F5088">
                    <a:alpha val="100000"/>
                  </a:srgbClr>
                </a:solidFill>
                <a:latin typeface="+mn-ea"/>
                <a:cs typeface="Noto Sans SC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66938" y="3352800"/>
            <a:ext cx="7858125" cy="112954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6000" b="1">
                <a:solidFill>
                  <a:schemeClr val="accent2"/>
                </a:solidFill>
                <a:latin typeface="+mn-ea"/>
                <a:cs typeface="Noto Sans SC"/>
              </a:rPr>
              <a:t>MIB-2 概述</a:t>
            </a:r>
            <a:r>
              <a:rPr lang="zh-CN" altLang="en-US" sz="6000" b="1">
                <a:solidFill>
                  <a:schemeClr val="accent2"/>
                </a:solidFill>
                <a:latin typeface="+mn-ea"/>
                <a:cs typeface="Noto Sans SC"/>
              </a:rPr>
              <a:t>及功能组</a:t>
            </a:r>
            <a:endParaRPr lang="en-US" sz="6000" b="1">
              <a:solidFill>
                <a:schemeClr val="accent2"/>
              </a:solidFill>
              <a:latin typeface="+mn-ea"/>
              <a:cs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MIB-2定义与背景</a:t>
            </a:r>
          </a:p>
        </p:txBody>
      </p:sp>
      <p:sp>
        <p:nvSpPr>
          <p:cNvPr id="4" name="AutoShape 4"/>
          <p:cNvSpPr/>
          <p:nvPr/>
        </p:nvSpPr>
        <p:spPr>
          <a:xfrm>
            <a:off x="3729746" y="1769675"/>
            <a:ext cx="3031629" cy="4285329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5" name="TextBox 5"/>
          <p:cNvSpPr txBox="1"/>
          <p:nvPr/>
        </p:nvSpPr>
        <p:spPr>
          <a:xfrm>
            <a:off x="3923235" y="2035795"/>
            <a:ext cx="2644651" cy="64993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800" b="1" err="1">
                <a:solidFill>
                  <a:schemeClr val="accent2"/>
                </a:solidFill>
                <a:latin typeface="+mn-ea"/>
                <a:cs typeface="Noto Sans SC"/>
              </a:rPr>
              <a:t>背景</a:t>
            </a:r>
            <a:endParaRPr lang="en-US" sz="2800" b="1">
              <a:solidFill>
                <a:schemeClr val="accent2"/>
              </a:solidFill>
              <a:latin typeface="+mn-ea"/>
              <a:cs typeface="Noto Sans S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923235" y="2757859"/>
            <a:ext cx="2644651" cy="292476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MIB-2是对MIB-1的扩展和升级，首次在RFC 1213中定义，旨在提供更全面、更详细的网络管理信息。MIB-2的引入，使得网络管理更加高效、灵活。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56553" y="1764765"/>
            <a:ext cx="3031629" cy="4285329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8" name="TextBox 8"/>
          <p:cNvSpPr txBox="1"/>
          <p:nvPr/>
        </p:nvSpPr>
        <p:spPr>
          <a:xfrm>
            <a:off x="750042" y="2035795"/>
            <a:ext cx="2644651" cy="64993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800" b="1" err="1">
                <a:solidFill>
                  <a:schemeClr val="accent2"/>
                </a:solidFill>
                <a:latin typeface="+mn-ea"/>
                <a:cs typeface="Noto Sans SC"/>
              </a:rPr>
              <a:t>定义</a:t>
            </a:r>
            <a:endParaRPr lang="en-US" sz="2800" b="1">
              <a:solidFill>
                <a:schemeClr val="accent2"/>
              </a:solidFill>
              <a:latin typeface="+mn-ea"/>
              <a:cs typeface="Noto Sans S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0042" y="2752949"/>
            <a:ext cx="2644651" cy="292476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MIB-2（Management Information Base </a:t>
            </a:r>
            <a:r>
              <a:rPr lang="en-US" err="1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II）是TCP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/</a:t>
            </a:r>
            <a:r>
              <a:rPr lang="en-US" err="1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IP网络管理协议</a:t>
            </a:r>
            <a:r>
              <a:rPr lang="en-US" b="1" err="1">
                <a:solidFill>
                  <a:schemeClr val="accent2"/>
                </a:solidFill>
                <a:latin typeface="+mn-ea"/>
                <a:cs typeface="Noto Sans SC"/>
              </a:rPr>
              <a:t>SNMP的一部分</a:t>
            </a:r>
            <a:r>
              <a:rPr lang="en-US" err="1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，</a:t>
            </a:r>
            <a:r>
              <a:rPr lang="en-US" b="1" err="1">
                <a:solidFill>
                  <a:schemeClr val="accent2"/>
                </a:solidFill>
                <a:latin typeface="+mn-ea"/>
                <a:cs typeface="Noto Sans SC"/>
              </a:rPr>
              <a:t>用于定义受管设备必须保存的数据项、允许对每个数据项进行的操作及其含义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CCBDCF3-C920-D78A-106A-662D572C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1764765"/>
            <a:ext cx="4472647" cy="4285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MIB-2在SNMP中的位置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E86D9B-CDDD-2C80-0B93-F35FAE36F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94" y="2104425"/>
            <a:ext cx="3429000" cy="3609975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114800" y="1676400"/>
            <a:ext cx="7211308" cy="4522346"/>
          </a:xfrm>
          <a:prstGeom prst="roundRect">
            <a:avLst>
              <a:gd name="adj" fmla="val 4504"/>
            </a:avLst>
          </a:prstGeom>
          <a:solidFill>
            <a:srgbClr val="FFFFFF">
              <a:alpha val="100000"/>
            </a:srgbClr>
          </a:solidFill>
          <a:ln/>
          <a:effectLst>
            <a:outerShdw blurRad="381000">
              <a:srgbClr val="000000">
                <a:alpha val="7000"/>
              </a:srgbClr>
            </a:outerShdw>
          </a:effectLst>
        </p:spPr>
      </p:sp>
      <p:sp>
        <p:nvSpPr>
          <p:cNvPr id="4" name="TextBox 4"/>
          <p:cNvSpPr txBox="1"/>
          <p:nvPr/>
        </p:nvSpPr>
        <p:spPr>
          <a:xfrm>
            <a:off x="4481954" y="2542669"/>
            <a:ext cx="6477000" cy="125774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MIB-2是SNMP协议框架中的核心组件之一，与管理信息结构（SMI）和网络管理协议（SNMP）共同构成了SNMP协议的三大支柱。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81954" y="2101337"/>
            <a:ext cx="6477000" cy="6452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核心组件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81954" y="4442876"/>
            <a:ext cx="6477000" cy="127152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在SNMP中，MIB-2作为数据存储的仓库，存储了受管设备的控制和状态信息等数据变量。管理站通过SNMP协议与代理进行通信，获取或设置MIB-2中的数据项。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1954" y="3975564"/>
            <a:ext cx="6477000" cy="6452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数据存储与访问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6023" y="1726817"/>
            <a:ext cx="4434840" cy="4434841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562187" y="4847850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故障排查与性能优化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267801" y="5523753"/>
            <a:ext cx="6270251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通过MIB-2提供的数据，网络管理员可以快速定位网络故障、分析网络性能瓶颈，并采取相应的优化措施。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267801" y="183597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5562187" y="1594862"/>
            <a:ext cx="6000750" cy="6660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标准化管理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267801" y="2234038"/>
            <a:ext cx="6295136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MIB-2的标准化定义，使得不同厂商的设备可以遵循统一的管理信息模型，实现了网络管理的标准化和互操作性。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37302" y="3246682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全面监控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67801" y="3896612"/>
            <a:ext cx="6270251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MIB-2包含了丰富的网络管理信息，如系统状态、接口信息、IP协议信息等，为网络管理员提供了全面的监控手段。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MIB-2的重要性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267801" y="3491989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267801" y="5117897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90963" y="4114800"/>
            <a:ext cx="8794488" cy="1552714"/>
          </a:xfrm>
          <a:prstGeom prst="roundRect">
            <a:avLst>
              <a:gd name="adj" fmla="val 10215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4" name="AutoShape 4"/>
          <p:cNvSpPr/>
          <p:nvPr/>
        </p:nvSpPr>
        <p:spPr>
          <a:xfrm>
            <a:off x="1790963" y="1965125"/>
            <a:ext cx="8794488" cy="1552714"/>
          </a:xfrm>
          <a:prstGeom prst="roundRect">
            <a:avLst>
              <a:gd name="adj" fmla="val 10215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  <a:ln/>
        </p:spPr>
      </p:sp>
      <p:sp>
        <p:nvSpPr>
          <p:cNvPr id="5" name="TextBox 5"/>
          <p:cNvSpPr txBox="1"/>
          <p:nvPr/>
        </p:nvSpPr>
        <p:spPr>
          <a:xfrm>
            <a:off x="2578232" y="2276545"/>
            <a:ext cx="7219950" cy="79604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b="1" err="1">
                <a:solidFill>
                  <a:schemeClr val="accent2"/>
                </a:solidFill>
                <a:latin typeface="+mn-ea"/>
                <a:cs typeface="Noto Sans SC"/>
              </a:rPr>
              <a:t>提供基础信息</a:t>
            </a:r>
            <a:r>
              <a:rPr lang="en-US" altLang="zh-CN" err="1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：系统组为网络管理系统提供了关于设备的基础信息，如设备名称、位置、联系方式等</a:t>
            </a: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78232" y="3596789"/>
            <a:ext cx="721995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endParaRPr lang="en-US" sz="1500">
              <a:solidFill>
                <a:schemeClr val="dk1">
                  <a:alpha val="100000"/>
                </a:schemeClr>
              </a:solidFill>
              <a:latin typeface="+mn-ea"/>
              <a:cs typeface="Noto Sans S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 err="1">
                <a:solidFill>
                  <a:schemeClr val="accent2"/>
                </a:solidFill>
                <a:latin typeface="+mn-ea"/>
                <a:cs typeface="Noto Sans SC"/>
              </a:rPr>
              <a:t>系统组（System</a:t>
            </a: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 Group）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78232" y="4422260"/>
            <a:ext cx="721995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err="1">
                <a:solidFill>
                  <a:schemeClr val="accent2"/>
                </a:solidFill>
                <a:latin typeface="+mn-ea"/>
                <a:cs typeface="Noto Sans SC"/>
              </a:rPr>
              <a:t>便于统一管理</a:t>
            </a:r>
            <a:r>
              <a:rPr lang="en-US" err="1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：通过系统组的信息，网络管理员可以更方便地对网络中的设备进行统一管理和维护</a:t>
            </a: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20794" y="1179728"/>
            <a:ext cx="4502871" cy="5087504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624216" y="1683936"/>
            <a:ext cx="7039534" cy="4239495"/>
          </a:xfrm>
          <a:prstGeom prst="roundRect">
            <a:avLst>
              <a:gd name="adj" fmla="val 7364"/>
            </a:avLst>
          </a:prstGeom>
          <a:solidFill>
            <a:srgbClr val="FFFFFF">
              <a:alpha val="100000"/>
            </a:srgbClr>
          </a:solidFill>
          <a:ln/>
          <a:effectLst>
            <a:outerShdw blurRad="342900">
              <a:srgbClr val="000000">
                <a:alpha val="7000"/>
              </a:srgbClr>
            </a:outerShdw>
          </a:effectLst>
        </p:spPr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err="1">
                <a:solidFill>
                  <a:schemeClr val="accent2"/>
                </a:solidFill>
                <a:latin typeface="+mn-ea"/>
                <a:cs typeface="Noto Sans SC"/>
              </a:rPr>
              <a:t>接口组（Interfaces</a:t>
            </a: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 Group）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1913" y="2780774"/>
            <a:ext cx="5845181" cy="77436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err="1">
                <a:solidFill>
                  <a:schemeClr val="accent2"/>
                </a:solidFill>
                <a:latin typeface="+mn-ea"/>
                <a:cs typeface="Noto Sans SC"/>
              </a:rPr>
              <a:t>监控接口状态</a:t>
            </a:r>
            <a:r>
              <a:rPr lang="en-US" err="1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：接口组提供了关于主机接口的配置和统计信息，如接口速度、状态、发送和接收的数据包数量等</a:t>
            </a: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1913" y="4168326"/>
            <a:ext cx="5845181" cy="77436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err="1">
                <a:solidFill>
                  <a:schemeClr val="accent2"/>
                </a:solidFill>
                <a:latin typeface="+mn-ea"/>
                <a:cs typeface="Noto Sans SC"/>
              </a:rPr>
              <a:t>保障网络通畅</a:t>
            </a:r>
            <a:r>
              <a:rPr lang="en-US" err="1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：通过监控接口状态，网络管理员可以及时发现并解决接口故障，保障网络的通畅运行</a:t>
            </a: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45257" y="2687614"/>
            <a:ext cx="285750" cy="28575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>
            <a:off x="1045257" y="4262791"/>
            <a:ext cx="285750" cy="28575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4686" y="1979915"/>
            <a:ext cx="3849053" cy="3849053"/>
          </a:xfrm>
          <a:prstGeom prst="ellipse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215B2D1-90F8-D40F-876F-B32C8D878BF0}"/>
              </a:ext>
            </a:extLst>
          </p:cNvPr>
          <p:cNvSpPr txBox="1"/>
          <p:nvPr/>
        </p:nvSpPr>
        <p:spPr>
          <a:xfrm>
            <a:off x="5105400" y="1447800"/>
            <a:ext cx="5867400" cy="46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chemeClr val="accent2"/>
                </a:solidFill>
              </a:rPr>
              <a:t>IP</a:t>
            </a:r>
            <a:r>
              <a:rPr lang="zh-CN" altLang="en-US" sz="2400" b="1">
                <a:solidFill>
                  <a:schemeClr val="accent2"/>
                </a:solidFill>
              </a:rPr>
              <a:t>组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IP</a:t>
            </a:r>
            <a:r>
              <a:rPr lang="zh-CN" altLang="en-US"/>
              <a:t>组提供了与</a:t>
            </a:r>
            <a:r>
              <a:rPr lang="en-US" altLang="zh-CN"/>
              <a:t>IP</a:t>
            </a:r>
            <a:r>
              <a:rPr lang="zh-CN" altLang="en-US"/>
              <a:t>协议有关的信息，如</a:t>
            </a:r>
            <a:r>
              <a:rPr lang="en-US" altLang="zh-CN"/>
              <a:t>IP</a:t>
            </a:r>
            <a:r>
              <a:rPr lang="zh-CN" altLang="en-US"/>
              <a:t>地址、子网掩码、路由表等。通过</a:t>
            </a:r>
            <a:r>
              <a:rPr lang="en-US" altLang="zh-CN"/>
              <a:t>IP</a:t>
            </a:r>
            <a:r>
              <a:rPr lang="zh-CN" altLang="en-US"/>
              <a:t>组的信息，网络管理员可以了解设备的</a:t>
            </a:r>
            <a:r>
              <a:rPr lang="en-US" altLang="zh-CN"/>
              <a:t>IP</a:t>
            </a:r>
            <a:r>
              <a:rPr lang="zh-CN" altLang="en-US"/>
              <a:t>配置情况，并进行相应的网络规划和配置。</a:t>
            </a:r>
          </a:p>
          <a:p>
            <a:pPr>
              <a:lnSpc>
                <a:spcPct val="150000"/>
              </a:lnSpc>
            </a:pP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chemeClr val="accent2"/>
                </a:solidFill>
              </a:rPr>
              <a:t>ICMP</a:t>
            </a:r>
            <a:r>
              <a:rPr lang="zh-CN" altLang="en-US" sz="2400" b="1">
                <a:solidFill>
                  <a:schemeClr val="accent2"/>
                </a:solidFill>
              </a:rPr>
              <a:t>组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ICMP</a:t>
            </a:r>
            <a:r>
              <a:rPr lang="zh-CN" altLang="en-US"/>
              <a:t>组包含</a:t>
            </a:r>
            <a:r>
              <a:rPr lang="en-US" altLang="zh-CN"/>
              <a:t>ICMP</a:t>
            </a:r>
            <a:r>
              <a:rPr lang="zh-CN" altLang="en-US"/>
              <a:t>实现和操作的有关信息，如接收和发送的</a:t>
            </a:r>
            <a:r>
              <a:rPr lang="en-US" altLang="zh-CN"/>
              <a:t>ICMP</a:t>
            </a:r>
            <a:r>
              <a:rPr lang="zh-CN" altLang="en-US"/>
              <a:t>消息数量、类型等。</a:t>
            </a:r>
            <a:r>
              <a:rPr lang="en-US" altLang="zh-CN"/>
              <a:t>ICMP</a:t>
            </a:r>
            <a:r>
              <a:rPr lang="zh-CN" altLang="en-US"/>
              <a:t>组的信息对于诊断网络问题非常重要，如通过检查</a:t>
            </a:r>
            <a:r>
              <a:rPr lang="en-US" altLang="zh-CN"/>
              <a:t>ICMP</a:t>
            </a:r>
            <a:r>
              <a:rPr lang="zh-CN" altLang="en-US"/>
              <a:t>消息可以确定网络连接是否通畅、是否存在路由问题等。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C57A7FA-9A3A-B286-5F16-251DFEE79F39}"/>
              </a:ext>
            </a:extLst>
          </p:cNvPr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IP组、ICMP组、TCP组、UDP组等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1638422"/>
            <a:ext cx="8023985" cy="4533777"/>
          </a:xfrm>
          <a:prstGeom prst="roundRect">
            <a:avLst>
              <a:gd name="adj" fmla="val 5952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/>
        </p:spPr>
      </p:sp>
      <p:sp>
        <p:nvSpPr>
          <p:cNvPr id="4" name="AutoShape 4"/>
          <p:cNvSpPr/>
          <p:nvPr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/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8027" y="1600200"/>
            <a:ext cx="3794373" cy="45719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85399" y="1752600"/>
            <a:ext cx="6350629" cy="286988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400" b="1">
                <a:solidFill>
                  <a:schemeClr val="accent2"/>
                </a:solidFill>
                <a:latin typeface="+mn-ea"/>
                <a:cs typeface="Noto Sans SC"/>
              </a:rPr>
              <a:t>TCP组</a:t>
            </a:r>
          </a:p>
          <a:p>
            <a:pPr algn="l"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 TCP组包含与TCP协议的实现和操作有关的信息，如TCP连接的状态、传输的数据量等。TCP组的信息对于监控网络性能、诊断网络问题非常重要，如通过检查TCP连接状态可以确定网络连接是否稳定、是否存在数据丢失等问题。</a:t>
            </a:r>
          </a:p>
          <a:p>
            <a:pPr algn="l">
              <a:lnSpc>
                <a:spcPct val="140000"/>
              </a:lnSpc>
            </a:pPr>
            <a:endParaRPr lang="en-US" sz="1600">
              <a:solidFill>
                <a:schemeClr val="dk1">
                  <a:alpha val="100000"/>
                </a:schemeClr>
              </a:solidFill>
              <a:latin typeface="+mn-ea"/>
              <a:cs typeface="Noto Sans SC"/>
            </a:endParaRPr>
          </a:p>
          <a:p>
            <a:pPr algn="l">
              <a:lnSpc>
                <a:spcPct val="140000"/>
              </a:lnSpc>
            </a:pPr>
            <a:r>
              <a:rPr lang="en-US" sz="2400" b="1">
                <a:solidFill>
                  <a:schemeClr val="accent2"/>
                </a:solidFill>
                <a:latin typeface="+mn-ea"/>
                <a:cs typeface="Noto Sans SC"/>
              </a:rPr>
              <a:t>UDP组</a:t>
            </a:r>
          </a:p>
          <a:p>
            <a:pPr algn="l"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 UDP组提供了关于UDP数据报和本地接收端点的详细信息，如UDP端口的使用情况、发送和接收的数据量等。UDP组的信息对于监控网络性能、诊断网络问题同样重要，如通过检查UDP端口的使用情况可以确定是否存在端口冲突、非法访问等问题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IP组、ICMP组、TCP组、UDP组等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8B140422-0D74-4ED4-447A-B08A0274E500}"/>
              </a:ext>
            </a:extLst>
          </p:cNvPr>
          <p:cNvSpPr txBox="1"/>
          <p:nvPr/>
        </p:nvSpPr>
        <p:spPr>
          <a:xfrm>
            <a:off x="1819275" y="2057400"/>
            <a:ext cx="8553450" cy="107843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64000"/>
              </a:lnSpc>
              <a:spcBef>
                <a:spcPts val="450"/>
              </a:spcBef>
            </a:pPr>
            <a:r>
              <a:rPr lang="en-US" sz="9225" b="1">
                <a:solidFill>
                  <a:srgbClr val="4F5088">
                    <a:alpha val="100000"/>
                  </a:srgbClr>
                </a:solidFill>
                <a:latin typeface="+mn-ea"/>
                <a:cs typeface="Noto Sans SC"/>
              </a:rPr>
              <a:t>02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5549F4D-6C6C-8F1F-F38B-D27750C70A71}"/>
              </a:ext>
            </a:extLst>
          </p:cNvPr>
          <p:cNvSpPr txBox="1"/>
          <p:nvPr/>
        </p:nvSpPr>
        <p:spPr>
          <a:xfrm>
            <a:off x="1066800" y="3352800"/>
            <a:ext cx="10287000" cy="112954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6000" b="1">
                <a:solidFill>
                  <a:schemeClr val="accent2"/>
                </a:solidFill>
                <a:latin typeface="+mn-ea"/>
                <a:cs typeface="Noto Sans SC"/>
              </a:rPr>
              <a:t>MIB-2</a:t>
            </a:r>
            <a:r>
              <a:rPr lang="zh-CN" altLang="en-US" sz="6000" b="1">
                <a:solidFill>
                  <a:schemeClr val="accent2"/>
                </a:solidFill>
                <a:latin typeface="+mn-ea"/>
                <a:cs typeface="Noto Sans SC"/>
              </a:rPr>
              <a:t>的对象标识符（</a:t>
            </a:r>
            <a:r>
              <a:rPr lang="en-US" altLang="zh-CN" sz="6000" b="1">
                <a:solidFill>
                  <a:schemeClr val="accent2"/>
                </a:solidFill>
                <a:latin typeface="+mn-ea"/>
                <a:cs typeface="Noto Sans SC"/>
              </a:rPr>
              <a:t>OID</a:t>
            </a:r>
            <a:r>
              <a:rPr lang="zh-CN" altLang="en-US" sz="6000" b="1">
                <a:solidFill>
                  <a:schemeClr val="accent2"/>
                </a:solidFill>
                <a:latin typeface="+mn-ea"/>
                <a:cs typeface="Noto Sans SC"/>
              </a:rPr>
              <a:t>）</a:t>
            </a:r>
            <a:endParaRPr lang="en-US" sz="6000" b="1">
              <a:solidFill>
                <a:schemeClr val="accent2"/>
              </a:solidFill>
              <a:latin typeface="+mn-ea"/>
              <a:cs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481130" y="4405580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OID的分类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43005" y="5007095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OID可以分为标准OID和企业特定OID两种。标准OID由国际标准化组织定义，它们在网络设备之间具有通用性，被广泛用于各种网络管理软件和工具中。企业特定OID由各个网络设备厂商定义，它们用来表示设备的特有管理信息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243005" y="139370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5481130" y="1179728"/>
            <a:ext cx="6000750" cy="6660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OID的定义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236463" y="1699874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 err="1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OID（Object</a:t>
            </a: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Identifier，对象标识符）是标识MIB树中对象的一系列数字，以点分隔的形式呈现，用于唯一确定网络设备上的一个管理对象。OID不仅是SNMP（简单网络管理协议）查询和设置值的基础，也是监控网络性能、诊断问题和自动化网络管理任务的关键工具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74588" y="2931884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err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OID的结构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+mn-ea"/>
              <a:cs typeface="Noto Sans S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243005" y="3503731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OID采用树状层级结构，从根节点开始逐级细分。首段数字定义注册机构（如0代表ITU-T，1代表ISO），后续数字由各级授权机构分配。例如，医疗设备厂商可能申请1.3.6.1.4.1开头的OID段，再自行扩展末级编号。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OID的基本概念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236464" y="3192833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236463" y="468458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E9D4E03-64DA-B138-E6C6-AD76C1B33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95" y="1840752"/>
            <a:ext cx="4396938" cy="38382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4563" y="1876155"/>
            <a:ext cx="582930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表示设备启动后的运行时间。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4563" y="1573461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sysUpTime（1.3.6.1.2.1.1.3.0）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2095" y="2939609"/>
            <a:ext cx="582930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联系人信息，用于管理该设备的人员或组织。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2095" y="2614430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sysContact（1.3.6.1.2.1.1.4.0）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2095" y="3991102"/>
            <a:ext cx="582930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设备的主机名。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5623" y="3677589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sysName（1.3.6.1.2.1.1.5.0）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5199" y="2338156"/>
            <a:ext cx="4108492" cy="4108492"/>
          </a:xfrm>
          <a:prstGeom prst="ellipse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MIB-2中OID的应用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89BD39-CFAB-C361-850F-5258C82F6C88}"/>
              </a:ext>
            </a:extLst>
          </p:cNvPr>
          <p:cNvSpPr txBox="1"/>
          <p:nvPr/>
        </p:nvSpPr>
        <p:spPr>
          <a:xfrm>
            <a:off x="1088947" y="4655398"/>
            <a:ext cx="6096000" cy="86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b="1">
                <a:solidFill>
                  <a:schemeClr val="accent2"/>
                </a:solidFill>
                <a:latin typeface="+mn-ea"/>
                <a:cs typeface="Noto Sans SC"/>
              </a:rPr>
              <a:t>sysDescr（1.3.6.1.2.1.1.1.0）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显示设备的描述，包括硬件、操作系统和版本信息。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F08799-DD77-EEA5-727B-B0A44144263D}"/>
              </a:ext>
            </a:extLst>
          </p:cNvPr>
          <p:cNvSpPr txBox="1"/>
          <p:nvPr/>
        </p:nvSpPr>
        <p:spPr>
          <a:xfrm>
            <a:off x="6324600" y="1447800"/>
            <a:ext cx="6096000" cy="86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b="1">
                <a:solidFill>
                  <a:schemeClr val="accent2"/>
                </a:solidFill>
                <a:latin typeface="+mn-ea"/>
                <a:cs typeface="Noto Sans SC"/>
              </a:rPr>
              <a:t>sysObjectID（1.3.6.1.2.1.1.2.0）</a:t>
            </a:r>
          </a:p>
          <a:p>
            <a:pPr>
              <a:lnSpc>
                <a:spcPct val="140000"/>
              </a:lnSpc>
            </a:pPr>
            <a:r>
              <a:rPr lang="en-US" altLang="zh-CN" sz="18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表示设备实现的MIB模块的对象标识符。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C0C66B-6446-B8FE-71DC-2901FD31ACC1}"/>
              </a:ext>
            </a:extLst>
          </p:cNvPr>
          <p:cNvSpPr txBox="1"/>
          <p:nvPr/>
        </p:nvSpPr>
        <p:spPr>
          <a:xfrm>
            <a:off x="6324600" y="2490813"/>
            <a:ext cx="6096000" cy="86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sysLocation（1.3.6.1.2.1.1.6.0）</a:t>
            </a:r>
          </a:p>
          <a:p>
            <a:pPr>
              <a:lnSpc>
                <a:spcPct val="140000"/>
              </a:lnSpc>
            </a:pPr>
            <a:r>
              <a:rPr lang="en-US" altLang="zh-CN" sz="1800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设备的物理位置。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591" y="1664137"/>
            <a:ext cx="4434841" cy="4434841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334000" y="1989982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ifSpeed（1.3.6.1.2.1.2.2.1.5）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34854" y="2648235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接口的最大带宽。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4000" y="457200"/>
            <a:ext cx="6000750" cy="6660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ifDescr（1.3.6.1.2.1.2.2.1.2）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1715" y="1042293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接口的描述，如“eth0”或“GigabitEthernet0/0/1”。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20326" y="1216222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ifType（1.3.6.1.2.1.2.2.1.3）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31715" y="1886841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接口的类型。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MIB-2中OID的应用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1B3C53-5C5E-3E12-1980-72DA9357D015}"/>
              </a:ext>
            </a:extLst>
          </p:cNvPr>
          <p:cNvSpPr txBox="1"/>
          <p:nvPr/>
        </p:nvSpPr>
        <p:spPr>
          <a:xfrm>
            <a:off x="5347447" y="3044873"/>
            <a:ext cx="6096000" cy="78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270"/>
              </a:spcBef>
              <a:defRPr/>
            </a:pPr>
            <a:r>
              <a:rPr lang="en-US" altLang="zh-CN" sz="1600" b="1">
                <a:solidFill>
                  <a:schemeClr val="accent2"/>
                </a:solidFill>
                <a:latin typeface="+mn-ea"/>
                <a:cs typeface="Noto Sans SC"/>
              </a:rPr>
              <a:t>ifNumber（1.3.6.1.2.1.2.1.0）</a:t>
            </a:r>
          </a:p>
          <a:p>
            <a:pPr algn="l">
              <a:lnSpc>
                <a:spcPct val="140000"/>
              </a:lnSpc>
              <a:spcBef>
                <a:spcPts val="270"/>
              </a:spcBef>
              <a:defRPr/>
            </a:pPr>
            <a:r>
              <a:rPr lang="en-US" altLang="zh-CN" sz="1600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设备上接口的数量。</a:t>
            </a:r>
            <a:endParaRPr lang="en-US" altLang="zh-CN" sz="160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CEA419-6F36-D0AE-B3F2-65664ADDA837}"/>
              </a:ext>
            </a:extLst>
          </p:cNvPr>
          <p:cNvSpPr txBox="1"/>
          <p:nvPr/>
        </p:nvSpPr>
        <p:spPr>
          <a:xfrm>
            <a:off x="5347447" y="3887779"/>
            <a:ext cx="6096000" cy="78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270"/>
              </a:spcBef>
              <a:defRPr/>
            </a:pPr>
            <a:r>
              <a:rPr lang="en-US" altLang="zh-CN" sz="1600" b="1">
                <a:solidFill>
                  <a:schemeClr val="accent2"/>
                </a:solidFill>
                <a:latin typeface="+mn-ea"/>
                <a:cs typeface="Noto Sans SC"/>
              </a:rPr>
              <a:t>ifIndex（1.3.6.1.2.1.2.2.1.1）</a:t>
            </a:r>
          </a:p>
          <a:p>
            <a:pPr algn="l">
              <a:lnSpc>
                <a:spcPct val="140000"/>
              </a:lnSpc>
              <a:spcBef>
                <a:spcPts val="270"/>
              </a:spcBef>
              <a:defRPr/>
            </a:pPr>
            <a:r>
              <a:rPr lang="en-US" altLang="zh-CN" sz="1600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接口的索引值。</a:t>
            </a:r>
            <a:endParaRPr lang="en-US" altLang="zh-CN" sz="1600">
              <a:latin typeface="+mn-ea"/>
            </a:endParaRPr>
          </a:p>
        </p:txBody>
      </p:sp>
      <p:sp>
        <p:nvSpPr>
          <p:cNvPr id="17" name="TextBox 2"/>
          <p:cNvSpPr txBox="1"/>
          <p:nvPr/>
        </p:nvSpPr>
        <p:spPr>
          <a:xfrm>
            <a:off x="5320326" y="4421041"/>
            <a:ext cx="6288741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ifOperStatus（1.3.6.1.2.1.2.2.1.8）</a:t>
            </a:r>
          </a:p>
        </p:txBody>
      </p:sp>
      <p:sp>
        <p:nvSpPr>
          <p:cNvPr id="18" name="TextBox 4"/>
          <p:cNvSpPr txBox="1"/>
          <p:nvPr/>
        </p:nvSpPr>
        <p:spPr>
          <a:xfrm>
            <a:off x="5305252" y="5022471"/>
            <a:ext cx="6688569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接口的当前操作状态。</a:t>
            </a:r>
          </a:p>
        </p:txBody>
      </p:sp>
      <p:sp>
        <p:nvSpPr>
          <p:cNvPr id="19" name="TextBox 5"/>
          <p:cNvSpPr txBox="1"/>
          <p:nvPr/>
        </p:nvSpPr>
        <p:spPr>
          <a:xfrm>
            <a:off x="5316071" y="5248305"/>
            <a:ext cx="6823996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ifMtu（1.3.6.1.2.1.2.2.1.4）</a:t>
            </a:r>
          </a:p>
        </p:txBody>
      </p:sp>
      <p:sp>
        <p:nvSpPr>
          <p:cNvPr id="20" name="TextBox 6"/>
          <p:cNvSpPr txBox="1"/>
          <p:nvPr/>
        </p:nvSpPr>
        <p:spPr>
          <a:xfrm>
            <a:off x="5305252" y="5845912"/>
            <a:ext cx="6519197" cy="69814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接口的最大传输单元，表示接口上可以发送或接受的最大帧。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1874676"/>
            <a:ext cx="582930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IP地址的子网掩码。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524000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ipAdEntNetMask（1.3.6.1.2.1.4.20.1.3）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600" y="2772438"/>
            <a:ext cx="582930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接口接收的总字节数。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600" y="2413231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ifInOctets（1.3.6.1.2.1.2.2.1.10.x）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5801" y="4507217"/>
            <a:ext cx="582930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接口发送的总字节数。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600" y="4189317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ifOutOctets（1.3.6.1.2.1.2.2.1.16.x）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MIB-2中OID的应用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4095680-CD9E-6529-3CA8-C37965A07606}"/>
              </a:ext>
            </a:extLst>
          </p:cNvPr>
          <p:cNvSpPr txBox="1"/>
          <p:nvPr/>
        </p:nvSpPr>
        <p:spPr>
          <a:xfrm>
            <a:off x="990600" y="3197704"/>
            <a:ext cx="721995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 b="1">
                <a:solidFill>
                  <a:schemeClr val="accent2"/>
                </a:solidFill>
                <a:latin typeface="+mn-ea"/>
                <a:cs typeface="Noto Sans SC"/>
              </a:rPr>
              <a:t>ipAdEntAddr（1.3.6.1.2.1.4.20.1.1）</a:t>
            </a:r>
          </a:p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接口的IP地址。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80939-6EEE-1B33-7D98-4F63BDA69FD1}"/>
              </a:ext>
            </a:extLst>
          </p:cNvPr>
          <p:cNvSpPr txBox="1"/>
          <p:nvPr/>
        </p:nvSpPr>
        <p:spPr>
          <a:xfrm>
            <a:off x="975801" y="4918188"/>
            <a:ext cx="721995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 b="1">
                <a:solidFill>
                  <a:schemeClr val="accent2"/>
                </a:solidFill>
                <a:latin typeface="+mn-ea"/>
                <a:cs typeface="Noto Sans SC"/>
              </a:rPr>
              <a:t>ipAdEntIfIndex（1.3.6.1.2.1.4.20.1.2）</a:t>
            </a:r>
          </a:p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IP地址对应的接口索引。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40F498D-72A5-76AE-BD01-83A5D0A5D463}"/>
              </a:ext>
            </a:extLst>
          </p:cNvPr>
          <p:cNvSpPr txBox="1"/>
          <p:nvPr/>
        </p:nvSpPr>
        <p:spPr>
          <a:xfrm>
            <a:off x="6403037" y="1478572"/>
            <a:ext cx="5562600" cy="457448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00" b="1">
                <a:solidFill>
                  <a:schemeClr val="accent2"/>
                </a:solidFill>
                <a:latin typeface="+mn-ea"/>
                <a:cs typeface="Noto Sans SC"/>
              </a:rPr>
              <a:t>ifInErrors（1.3.6.1.2.1.2.2.1.14.x）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FBBD6E9-A5F1-2AEA-8E5F-32BB4D806FF2}"/>
              </a:ext>
            </a:extLst>
          </p:cNvPr>
          <p:cNvSpPr txBox="1"/>
          <p:nvPr/>
        </p:nvSpPr>
        <p:spPr>
          <a:xfrm>
            <a:off x="6403037" y="1892397"/>
            <a:ext cx="3400425" cy="55229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>
              <a:lnSpc>
                <a:spcPct val="140000"/>
              </a:lnSpc>
              <a:spcBef>
                <a:spcPts val="375"/>
              </a:spcBef>
            </a:pP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接口接收到的错误数据包数量。</a:t>
            </a:r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CBEBFCD6-86E6-2238-AA53-4F0F792C23F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5199" y="2338156"/>
            <a:ext cx="4108492" cy="4108492"/>
          </a:xfrm>
          <a:prstGeom prst="ellipse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49001DA1-50CA-A683-249A-3E816BF9DAE3}"/>
              </a:ext>
            </a:extLst>
          </p:cNvPr>
          <p:cNvSpPr txBox="1"/>
          <p:nvPr/>
        </p:nvSpPr>
        <p:spPr>
          <a:xfrm>
            <a:off x="6403037" y="2346991"/>
            <a:ext cx="5629275" cy="457448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00" b="1">
                <a:solidFill>
                  <a:schemeClr val="accent2"/>
                </a:solidFill>
                <a:latin typeface="+mn-ea"/>
                <a:cs typeface="Noto Sans SC"/>
              </a:rPr>
              <a:t>ifOutErrors（1.3.6.1.2.1.2.2.1.20.x）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6BFBC20-240D-1F68-0FFA-CC8468D8CE33}"/>
              </a:ext>
            </a:extLst>
          </p:cNvPr>
          <p:cNvSpPr txBox="1"/>
          <p:nvPr/>
        </p:nvSpPr>
        <p:spPr>
          <a:xfrm>
            <a:off x="6403037" y="2766558"/>
            <a:ext cx="4038600" cy="943307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>
              <a:lnSpc>
                <a:spcPct val="140000"/>
              </a:lnSpc>
              <a:spcBef>
                <a:spcPts val="375"/>
              </a:spcBef>
            </a:pP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  <a:cs typeface="Noto Sans SC"/>
              </a:rPr>
              <a:t>接口发送时出现错误的数据包数量。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A3105674-2AE3-CF8B-2D28-86963A1BDE53}"/>
              </a:ext>
            </a:extLst>
          </p:cNvPr>
          <p:cNvSpPr txBox="1"/>
          <p:nvPr/>
        </p:nvSpPr>
        <p:spPr>
          <a:xfrm>
            <a:off x="1819275" y="2057400"/>
            <a:ext cx="8553450" cy="107843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64000"/>
              </a:lnSpc>
              <a:spcBef>
                <a:spcPts val="450"/>
              </a:spcBef>
            </a:pPr>
            <a:r>
              <a:rPr lang="en-US" sz="9225" b="1">
                <a:solidFill>
                  <a:srgbClr val="4F5088">
                    <a:alpha val="100000"/>
                  </a:srgbClr>
                </a:solidFill>
                <a:latin typeface="+mn-ea"/>
                <a:cs typeface="Noto Sans SC"/>
              </a:rPr>
              <a:t>03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66CD221-0DCD-F852-E787-355E94788172}"/>
              </a:ext>
            </a:extLst>
          </p:cNvPr>
          <p:cNvSpPr txBox="1"/>
          <p:nvPr/>
        </p:nvSpPr>
        <p:spPr>
          <a:xfrm>
            <a:off x="1731169" y="3352800"/>
            <a:ext cx="8729662" cy="112954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6000" b="1">
                <a:solidFill>
                  <a:schemeClr val="accent2"/>
                </a:solidFill>
                <a:latin typeface="+mn-ea"/>
                <a:cs typeface="Noto Sans SC"/>
              </a:rPr>
              <a:t>MIB-2</a:t>
            </a:r>
            <a:r>
              <a:rPr lang="zh-CN" altLang="en-US" sz="6000" b="1">
                <a:solidFill>
                  <a:schemeClr val="accent2"/>
                </a:solidFill>
                <a:latin typeface="+mn-ea"/>
                <a:cs typeface="Noto Sans SC"/>
              </a:rPr>
              <a:t>的应用场景与案例</a:t>
            </a:r>
            <a:endParaRPr lang="en-US" sz="6000" b="1">
              <a:solidFill>
                <a:schemeClr val="accent2"/>
              </a:solidFill>
              <a:latin typeface="+mn-ea"/>
              <a:cs typeface="Noto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1988" y="1845509"/>
            <a:ext cx="4092893" cy="40925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69" y="10800"/>
                </a:moveTo>
                <a:cubicBezTo>
                  <a:pt x="269" y="4983"/>
                  <a:pt x="4983" y="269"/>
                  <a:pt x="10800" y="269"/>
                </a:cubicBezTo>
                <a:cubicBezTo>
                  <a:pt x="16616" y="268"/>
                  <a:pt x="21330" y="4983"/>
                  <a:pt x="2133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69" y="1080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2027" y="2155390"/>
            <a:ext cx="3472815" cy="3472815"/>
          </a:xfrm>
          <a:prstGeom prst="ellipse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7260" y="3100411"/>
            <a:ext cx="5618263" cy="47041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MIB-2中的系统组对象（如sysUpTimeInstance）提供了设备自启动以来的运行时间，对于评估设备稳定性和性能至关重要。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88854" y="2610374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系统性能监控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88854" y="4273829"/>
            <a:ext cx="5569746" cy="456629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MIB-2中的ipRouteTable对象维护着设备的IP路由表，网络管理员可以通过查询这个表来监控和配置路由器的路由信息，确保网络流量的正确转发。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95773" y="3794368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IP路由表管理</a:t>
            </a:r>
          </a:p>
        </p:txBody>
      </p:sp>
      <p:sp>
        <p:nvSpPr>
          <p:cNvPr id="8" name="AutoShape 8"/>
          <p:cNvSpPr/>
          <p:nvPr/>
        </p:nvSpPr>
        <p:spPr>
          <a:xfrm>
            <a:off x="5233189" y="2868543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9" name="AutoShape 9"/>
          <p:cNvSpPr/>
          <p:nvPr/>
        </p:nvSpPr>
        <p:spPr>
          <a:xfrm>
            <a:off x="5233189" y="41253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471189" y="5373364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AutoShape 11"/>
          <p:cNvSpPr/>
          <p:nvPr/>
        </p:nvSpPr>
        <p:spPr>
          <a:xfrm>
            <a:off x="4471189" y="16422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TextBox 12"/>
          <p:cNvSpPr txBox="1"/>
          <p:nvPr/>
        </p:nvSpPr>
        <p:spPr>
          <a:xfrm>
            <a:off x="4470237" y="1792367"/>
            <a:ext cx="763905" cy="4616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32236" y="3018711"/>
            <a:ext cx="763905" cy="4616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48581" y="4275467"/>
            <a:ext cx="744855" cy="4616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70237" y="5523531"/>
            <a:ext cx="763905" cy="4616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18426" y="1649777"/>
            <a:ext cx="6397097" cy="456629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MIB-2中的ifTable表格提供了网络接口的详细信息，包括接口速率、状态、流量统计等，这对于网络管理员监控路由器的网络接口状态、诊断网络问题至关重要。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18426" y="1164218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网络接口信息监控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87222" y="5699240"/>
            <a:ext cx="6271378" cy="47041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MIB-2中的TCP和UDP组对象（如tcpConnTable和udpTable）提供了网络连接的信息，网络管理员可以利用这些信息来监控和检测潜在的网络攻击，如源IP地址欺骗、非法TCP/UDP端口使用等。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87222" y="5241100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安全监控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MIB-2在路由器、交换机等设备中的应用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6023" y="1726817"/>
            <a:ext cx="4434841" cy="4434841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562187" y="4838885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趋势分析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67801" y="5523753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 MIB-2数据还可以用于长期趋势分析，帮助网络管理员预测网络性能的变化趋势，提前采取优化措施。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267801" y="183597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5562187" y="1567959"/>
            <a:ext cx="6000750" cy="6660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实时数据监控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67801" y="2234038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 MIB-2为网络设备的性能监控提供了标准的数据定义，网络管理员可以通过SNMP协议实时获取这些数据，包括接口的进出包数、错误数量、系统CPU和内存使用率等，从而及时发现网络性能瓶颈或潜在故障。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62187" y="3200098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故障诊断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67801" y="3896612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       MIB-2中的数据可以帮助网络管理员定位网络问题。例如，通过监控ifTable表格中的接口状态，可以快速发现接口故障；通过查询ipRouteTable表格，可以排查路由配置错误导致的问题。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MIB-2在故障排查与性能监控中的应用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267801" y="3491989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267801" y="5117897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31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MIB-2与其他网络管理技术的结合使用</a:t>
            </a:r>
          </a:p>
        </p:txBody>
      </p:sp>
      <p:sp>
        <p:nvSpPr>
          <p:cNvPr id="4" name="AutoShape 4"/>
          <p:cNvSpPr/>
          <p:nvPr/>
        </p:nvSpPr>
        <p:spPr>
          <a:xfrm>
            <a:off x="1295400" y="1364126"/>
            <a:ext cx="4729433" cy="2286000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5" name="TextBox 5"/>
          <p:cNvSpPr txBox="1"/>
          <p:nvPr/>
        </p:nvSpPr>
        <p:spPr>
          <a:xfrm>
            <a:off x="2034564" y="1444103"/>
            <a:ext cx="325110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与SNMP协议结合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2716" y="2014414"/>
            <a:ext cx="4114800" cy="150568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MIB-2是SNMP协议中定义的一种标准信息模型，通过SNMP协议，网络管理员可以远程监控和管理网络设备，实现自动化和高效的网络管理。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24600" y="1371600"/>
            <a:ext cx="4729432" cy="2278526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8" name="TextBox 8"/>
          <p:cNvSpPr txBox="1"/>
          <p:nvPr/>
        </p:nvSpPr>
        <p:spPr>
          <a:xfrm>
            <a:off x="7063764" y="1444103"/>
            <a:ext cx="325110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与网络监控系统集成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42847" y="2006940"/>
            <a:ext cx="3959884" cy="105585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MIB-2数据可以被网络监控系统集成，实现网络设备的集中监控和管理。这些系统通常提供丰富的图形化界面和报警功能，帮助网络管理员更直观地了解网络设备的运行状态。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295400" y="4183525"/>
            <a:ext cx="4736908" cy="2286000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2089346" y="4303793"/>
            <a:ext cx="325110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与自动化工具结合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2716" y="4753836"/>
            <a:ext cx="4114800" cy="105585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MIB-2数据还可以与自动化工具结合使用，实现网络设备的自动化配置和故障排查。例如，通过编写自动化脚本，可以定期收集MIB-2数据，分析网络性能瓶颈，并自动触发相应的优化措施。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32074" y="4190999"/>
            <a:ext cx="4721958" cy="2278526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4" name="TextBox 14"/>
          <p:cNvSpPr txBox="1"/>
          <p:nvPr/>
        </p:nvSpPr>
        <p:spPr>
          <a:xfrm>
            <a:off x="7063764" y="4307334"/>
            <a:ext cx="325110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与安全管理系统集成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42847" y="4753835"/>
            <a:ext cx="3959884" cy="105585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MIB-2中的安全相关对象可以与安全管理系统集成，实现网络安全的集中监控和管理。这些系统通常提供实时的安全事件监控、告警和响应功能，帮助网络管理员及时发现和应对网络安全威胁。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B037F236-7D6C-257C-C961-33FEFAC694E6}"/>
              </a:ext>
            </a:extLst>
          </p:cNvPr>
          <p:cNvSpPr txBox="1"/>
          <p:nvPr/>
        </p:nvSpPr>
        <p:spPr>
          <a:xfrm>
            <a:off x="1819275" y="2057400"/>
            <a:ext cx="8553450" cy="107843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64000"/>
              </a:lnSpc>
              <a:spcBef>
                <a:spcPts val="450"/>
              </a:spcBef>
            </a:pPr>
            <a:r>
              <a:rPr lang="en-US" sz="9225" b="1">
                <a:solidFill>
                  <a:srgbClr val="4F5088">
                    <a:alpha val="100000"/>
                  </a:srgbClr>
                </a:solidFill>
                <a:latin typeface="+mn-ea"/>
                <a:cs typeface="Noto Sans SC"/>
              </a:rPr>
              <a:t>04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D9E7F15-6B37-D5F9-7161-E54E7C04BABA}"/>
              </a:ext>
            </a:extLst>
          </p:cNvPr>
          <p:cNvSpPr txBox="1"/>
          <p:nvPr/>
        </p:nvSpPr>
        <p:spPr>
          <a:xfrm>
            <a:off x="2117776" y="3352800"/>
            <a:ext cx="8043862" cy="112954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6000" b="1">
                <a:solidFill>
                  <a:schemeClr val="accent2"/>
                </a:solidFill>
                <a:latin typeface="+mn-ea"/>
                <a:cs typeface="Noto Sans SC"/>
              </a:rPr>
              <a:t>MIB-2</a:t>
            </a:r>
            <a:r>
              <a:rPr lang="zh-CN" altLang="en-US" sz="6000" b="1">
                <a:solidFill>
                  <a:schemeClr val="accent2"/>
                </a:solidFill>
                <a:latin typeface="+mn-ea"/>
                <a:cs typeface="Noto Sans SC"/>
              </a:rPr>
              <a:t>的未来发展趋势</a:t>
            </a:r>
            <a:endParaRPr lang="en-US" sz="6000" b="1">
              <a:solidFill>
                <a:schemeClr val="accent2"/>
              </a:solidFill>
              <a:latin typeface="+mn-ea"/>
              <a:cs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50898" y="1700108"/>
            <a:ext cx="906737" cy="906737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1008841" y="2806248"/>
            <a:ext cx="2990850" cy="685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标准化与国际化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8840" y="3502453"/>
            <a:ext cx="3105959" cy="27527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随着网络技术的快速发展，MIB-2标准将不断更新和扩展，以适应新的网络技术和应用场景。未来，MIB-2标准将更加注重标准化与国际化，确保不同厂商和设备之间的兼容性和互操作性。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57799" y="2806248"/>
            <a:ext cx="2990850" cy="685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安全性与可靠性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0237" y="3502453"/>
            <a:ext cx="3105958" cy="27527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随着网络攻击和威胁的不断增多，MIB-2标准将更加注重安全性与可靠性。未来，MIB-2标准将引入更多的安全机制，如加密、认证和访问控制等，以保障网络管理信息的安全性和可靠性。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94808" y="2806248"/>
            <a:ext cx="2990850" cy="685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+mn-ea"/>
                <a:cs typeface="Noto Sans SC"/>
              </a:rPr>
              <a:t>智能化与自动化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94454" y="3502453"/>
            <a:ext cx="3105958" cy="27527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随着人工智能自动化技术的发展，MIB-2标准将更加注重智能化与自动化。未来，MIB-2标准将引入更多的智能化功能，如自动化监测、故障预警和自我修复等，以提高网络管理的效率和准确性。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MIB-2标准的更新与扩展</a:t>
            </a:r>
          </a:p>
        </p:txBody>
      </p:sp>
      <p:sp>
        <p:nvSpPr>
          <p:cNvPr id="10" name="Freeform 10"/>
          <p:cNvSpPr/>
          <p:nvPr/>
        </p:nvSpPr>
        <p:spPr>
          <a:xfrm>
            <a:off x="2279744" y="1900379"/>
            <a:ext cx="468095" cy="46809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</a:path>
              <a:path w="304800" h="304800"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</a:path>
              <a:path w="304800" h="304800"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</a:path>
              <a:path w="304800" h="304800"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</a:path>
              <a:path w="304800" h="304800"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</a:path>
              <a:path w="304800" h="304800"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5687481" y="1700108"/>
            <a:ext cx="906737" cy="906737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9324065" y="1700108"/>
            <a:ext cx="906737" cy="906737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3" name="Freeform 13"/>
          <p:cNvSpPr/>
          <p:nvPr/>
        </p:nvSpPr>
        <p:spPr>
          <a:xfrm>
            <a:off x="5890183" y="1902809"/>
            <a:ext cx="501333" cy="50133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7299" y="240773"/>
                </a:moveTo>
                <a:lnTo>
                  <a:pt x="257299" y="258156"/>
                </a:lnTo>
                <a:lnTo>
                  <a:pt x="47501" y="258156"/>
                </a:lnTo>
                <a:lnTo>
                  <a:pt x="47501" y="240773"/>
                </a:lnTo>
                <a:cubicBezTo>
                  <a:pt x="47501" y="240773"/>
                  <a:pt x="43015" y="231162"/>
                  <a:pt x="67361" y="208112"/>
                </a:cubicBezTo>
                <a:cubicBezTo>
                  <a:pt x="91688" y="185071"/>
                  <a:pt x="88487" y="125511"/>
                  <a:pt x="88487" y="85173"/>
                </a:cubicBezTo>
                <a:cubicBezTo>
                  <a:pt x="88487" y="44834"/>
                  <a:pt x="145142" y="43977"/>
                  <a:pt x="145142" y="43977"/>
                </a:cubicBezTo>
                <a:lnTo>
                  <a:pt x="147085" y="43977"/>
                </a:lnTo>
                <a:cubicBezTo>
                  <a:pt x="147085" y="43996"/>
                  <a:pt x="147085" y="43701"/>
                  <a:pt x="147085" y="37424"/>
                </a:cubicBezTo>
                <a:cubicBezTo>
                  <a:pt x="147085" y="33395"/>
                  <a:pt x="133560" y="18802"/>
                  <a:pt x="133560" y="18802"/>
                </a:cubicBezTo>
                <a:lnTo>
                  <a:pt x="133360" y="9973"/>
                </a:lnTo>
                <a:lnTo>
                  <a:pt x="171555" y="9973"/>
                </a:lnTo>
                <a:lnTo>
                  <a:pt x="171298" y="19136"/>
                </a:lnTo>
                <a:cubicBezTo>
                  <a:pt x="171298" y="19136"/>
                  <a:pt x="156639" y="33719"/>
                  <a:pt x="156639" y="38014"/>
                </a:cubicBezTo>
                <a:cubicBezTo>
                  <a:pt x="156639" y="42167"/>
                  <a:pt x="156639" y="43558"/>
                  <a:pt x="156639" y="43967"/>
                </a:cubicBezTo>
                <a:lnTo>
                  <a:pt x="159658" y="43967"/>
                </a:lnTo>
                <a:cubicBezTo>
                  <a:pt x="159658" y="43967"/>
                  <a:pt x="216313" y="44825"/>
                  <a:pt x="216313" y="85163"/>
                </a:cubicBezTo>
                <a:cubicBezTo>
                  <a:pt x="216313" y="125501"/>
                  <a:pt x="213112" y="185071"/>
                  <a:pt x="237449" y="208121"/>
                </a:cubicBezTo>
                <a:cubicBezTo>
                  <a:pt x="261785" y="231172"/>
                  <a:pt x="257299" y="240773"/>
                  <a:pt x="257299" y="240773"/>
                </a:cubicBezTo>
                <a:close/>
              </a:path>
              <a:path w="304800" h="304800">
                <a:moveTo>
                  <a:pt x="176327" y="267367"/>
                </a:moveTo>
                <a:cubicBezTo>
                  <a:pt x="176327" y="280559"/>
                  <a:pt x="165640" y="294827"/>
                  <a:pt x="152457" y="294827"/>
                </a:cubicBezTo>
                <a:cubicBezTo>
                  <a:pt x="139275" y="294827"/>
                  <a:pt x="128588" y="280559"/>
                  <a:pt x="128588" y="267367"/>
                </a:cubicBezTo>
                <a:cubicBezTo>
                  <a:pt x="128588" y="267662"/>
                  <a:pt x="176327" y="267062"/>
                  <a:pt x="176327" y="267367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4" name="Freeform 14"/>
          <p:cNvSpPr/>
          <p:nvPr/>
        </p:nvSpPr>
        <p:spPr>
          <a:xfrm>
            <a:off x="9531194" y="1907238"/>
            <a:ext cx="492477" cy="492477"/>
          </a:xfrm>
          <a:custGeom>
            <a:avLst/>
            <a:gdLst/>
            <a:ahLst/>
            <a:cxnLst/>
            <a:rect l="l" t="t" r="r" b="b"/>
            <a:pathLst>
              <a:path w="323850" h="304800">
                <a:moveTo>
                  <a:pt x="265490" y="266700"/>
                </a:moveTo>
                <a:cubicBezTo>
                  <a:pt x="265490" y="266700"/>
                  <a:pt x="318068" y="266757"/>
                  <a:pt x="325450" y="215313"/>
                </a:cubicBezTo>
                <a:cubicBezTo>
                  <a:pt x="328965" y="159058"/>
                  <a:pt x="274625" y="147971"/>
                  <a:pt x="274625" y="147971"/>
                </a:cubicBezTo>
                <a:cubicBezTo>
                  <a:pt x="274625" y="147971"/>
                  <a:pt x="280807" y="64694"/>
                  <a:pt x="204511" y="55197"/>
                </a:cubicBezTo>
                <a:cubicBezTo>
                  <a:pt x="139122" y="48520"/>
                  <a:pt x="119224" y="109290"/>
                  <a:pt x="119224" y="109290"/>
                </a:cubicBezTo>
                <a:cubicBezTo>
                  <a:pt x="119224" y="109290"/>
                  <a:pt x="99527" y="90354"/>
                  <a:pt x="72809" y="105823"/>
                </a:cubicBezTo>
                <a:cubicBezTo>
                  <a:pt x="48892" y="120587"/>
                  <a:pt x="53121" y="147618"/>
                  <a:pt x="53121" y="147618"/>
                </a:cubicBezTo>
                <a:cubicBezTo>
                  <a:pt x="53121" y="147618"/>
                  <a:pt x="0" y="157944"/>
                  <a:pt x="0" y="212084"/>
                </a:cubicBezTo>
                <a:cubicBezTo>
                  <a:pt x="1191" y="266157"/>
                  <a:pt x="57693" y="266700"/>
                  <a:pt x="57693" y="266662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37917" y="2167116"/>
            <a:ext cx="3680000" cy="3630804"/>
          </a:xfrm>
          <a:prstGeom prst="roundRect">
            <a:avLst>
              <a:gd name="adj" fmla="val 6227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4256000" y="2199866"/>
            <a:ext cx="3680000" cy="3598054"/>
          </a:xfrm>
          <a:prstGeom prst="roundRect">
            <a:avLst>
              <a:gd name="adj" fmla="val 6227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4506144" y="1885230"/>
            <a:ext cx="3234092" cy="554667"/>
          </a:xfrm>
          <a:prstGeom prst="roundRect">
            <a:avLst>
              <a:gd name="adj" fmla="val 17831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8360871" y="1885230"/>
            <a:ext cx="3234092" cy="554667"/>
          </a:xfrm>
          <a:prstGeom prst="roundRect">
            <a:avLst>
              <a:gd name="adj" fmla="val 21386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accent2"/>
                </a:solidFill>
                <a:latin typeface="+mn-ea"/>
                <a:cs typeface="Noto Sans SC"/>
              </a:rPr>
              <a:t>MIB-2在云计算、大数据等领域的应用前景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82492" y="1828800"/>
            <a:ext cx="2990850" cy="66752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+mn-ea"/>
                <a:cs typeface="Noto Sans SC"/>
              </a:rPr>
              <a:t>物联网与智能设备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63430" y="2629226"/>
            <a:ext cx="3228975" cy="359844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随着物联网和智能设备的发展，MIB-2标准将在这些领域发挥重要作用。通过MIB-2标准，可以实现对物联网设备和智能设备的统一管理和监控，包括设备的状态、性能、安全性和能耗等方面的监测和管理。这将有助于提高物联网和智能设备的管理效率和安全性，推动这些领域的快速发展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00575" y="1828800"/>
            <a:ext cx="2990850" cy="66752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+mn-ea"/>
                <a:cs typeface="Noto Sans SC"/>
              </a:rPr>
              <a:t>大数据处理与分析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81513" y="2661977"/>
            <a:ext cx="3228975" cy="359844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随着大数据技术的不断发展，MIB-2标准将在大数据处理与分析中发挥重要作用。通过MIB-2标准，可以实现对大数据资源的统一管理和监控，包括数据采集、存储、处理和分析等方面的监测和管理。这将有助于提高大数据处理与分析的效率和准确性，为企业的决策和运营提供更加有力的支持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74084" y="2199474"/>
            <a:ext cx="3680000" cy="3598445"/>
          </a:xfrm>
          <a:prstGeom prst="roundRect">
            <a:avLst>
              <a:gd name="adj" fmla="val 6227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97038" y="1885230"/>
            <a:ext cx="3234092" cy="554667"/>
          </a:xfrm>
          <a:prstGeom prst="roundRect">
            <a:avLst>
              <a:gd name="adj" fmla="val 21386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TextBox 13"/>
          <p:cNvSpPr txBox="1"/>
          <p:nvPr/>
        </p:nvSpPr>
        <p:spPr>
          <a:xfrm>
            <a:off x="718659" y="1828800"/>
            <a:ext cx="2990850" cy="66752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+mn-ea"/>
                <a:cs typeface="Noto Sans SC"/>
              </a:rPr>
              <a:t>云计算管理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596" y="2661585"/>
            <a:ext cx="3228975" cy="359844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+mn-ea"/>
                <a:cs typeface="Noto Sans SC"/>
              </a:rPr>
              <a:t>随着云计算技术的普及和发展，MIB-2标准将在云计算管理中发挥重要作用。通过MIB-2标准，可以实现对云计算资源的统一管理和监控，包括云服务器、存储、网络等资源的状态、性能和安全性等方面的监测和管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2590800"/>
            <a:ext cx="7315200" cy="136800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64000"/>
              </a:lnSpc>
            </a:pPr>
            <a:r>
              <a:rPr lang="en-US" sz="12000" b="1">
                <a:solidFill>
                  <a:srgbClr val="4F5088">
                    <a:alpha val="100000"/>
                  </a:srgbClr>
                </a:solidFill>
                <a:latin typeface="+mn-ea"/>
                <a:cs typeface="Noto Sans SC"/>
              </a:rPr>
              <a:t>THANKS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74FD79-3762-5FBC-F184-AA9FFE62236B}"/>
              </a:ext>
            </a:extLst>
          </p:cNvPr>
          <p:cNvSpPr txBox="1"/>
          <p:nvPr/>
        </p:nvSpPr>
        <p:spPr>
          <a:xfrm>
            <a:off x="685800" y="4038600"/>
            <a:ext cx="6154270" cy="92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64000"/>
              </a:lnSpc>
            </a:pPr>
            <a:r>
              <a:rPr lang="zh-CN" altLang="en-US" sz="8000" b="1">
                <a:solidFill>
                  <a:srgbClr val="4F5088">
                    <a:alpha val="100000"/>
                  </a:srgbClr>
                </a:solidFill>
                <a:latin typeface="+mn-ea"/>
                <a:cs typeface="Noto Sans SC"/>
              </a:rPr>
              <a:t>感谢观看</a:t>
            </a:r>
            <a:endParaRPr lang="en-US" altLang="zh-CN" sz="8000" b="1">
              <a:solidFill>
                <a:srgbClr val="4F5088">
                  <a:alpha val="100000"/>
                </a:srgbClr>
              </a:solidFill>
              <a:latin typeface="+mn-ea"/>
              <a:cs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FFFFF"/>
      </a:lt1>
      <a:dk2>
        <a:srgbClr val="1F1F1F"/>
      </a:dk2>
      <a:lt2>
        <a:srgbClr val="CFCEEE"/>
      </a:lt2>
      <a:accent1>
        <a:srgbClr val="4F5088"/>
      </a:accent1>
      <a:accent2>
        <a:srgbClr val="4F5088"/>
      </a:accent2>
      <a:accent3>
        <a:srgbClr val="7173B7"/>
      </a:accent3>
      <a:accent4>
        <a:srgbClr val="8587C1"/>
      </a:accent4>
      <a:accent5>
        <a:srgbClr val="92B9E5"/>
      </a:accent5>
      <a:accent6>
        <a:srgbClr val="7CAEE8"/>
      </a:accent6>
      <a:hlink>
        <a:srgbClr val="0000FF"/>
      </a:hlink>
      <a:folHlink>
        <a:srgbClr val="800080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935</Words>
  <Application>Microsoft Office PowerPoint</Application>
  <PresentationFormat>宽屏</PresentationFormat>
  <Paragraphs>146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Noto Sans SC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Sucial _</dc:creator>
  <cp:lastModifiedBy>Sucial _</cp:lastModifiedBy>
  <cp:revision>40</cp:revision>
  <dcterms:created xsi:type="dcterms:W3CDTF">2006-08-16T00:00:00Z</dcterms:created>
  <dcterms:modified xsi:type="dcterms:W3CDTF">2025-07-09T08:49:16Z</dcterms:modified>
</cp:coreProperties>
</file>